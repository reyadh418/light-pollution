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Black" panose="00000A00000000000000" pitchFamily="2" charset="0"/>
      <p:bold r:id="rId41"/>
      <p:boldItalic r:id="rId42"/>
    </p:embeddedFont>
    <p:embeddedFont>
      <p:font typeface="Poppins SemiBold" panose="000007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hruEHFnjjDWM4ygcWHeqLYlJGr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8EE665-0CFB-4EB7-A3C9-63D2D931023C}">
  <a:tblStyle styleId="{EC8EE665-0CFB-4EB7-A3C9-63D2D93102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2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596289" y="2957194"/>
            <a:ext cx="800090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lt1"/>
                </a:solidFill>
                <a:latin typeface="Noto Sans Symbols"/>
                <a:ea typeface="Poppins Black"/>
                <a:cs typeface="Poppins Black"/>
                <a:sym typeface="Poppins Black"/>
              </a:rPr>
              <a:t>We, </a:t>
            </a:r>
            <a:r>
              <a:rPr lang="en-US" sz="4400" b="1" i="1" u="none" strike="noStrike" cap="none" dirty="0" err="1">
                <a:solidFill>
                  <a:srgbClr val="FFFF00"/>
                </a:solidFill>
                <a:latin typeface="Noto Sans Symbols"/>
                <a:ea typeface="Poppins Black"/>
                <a:cs typeface="Poppins Black"/>
                <a:sym typeface="Poppins Black"/>
              </a:rPr>
              <a:t>FalconX</a:t>
            </a:r>
            <a:r>
              <a:rPr lang="en-US" sz="4400" b="1" i="0" u="none" strike="noStrike" cap="none" dirty="0">
                <a:solidFill>
                  <a:schemeClr val="lt1"/>
                </a:solidFill>
                <a:latin typeface="Noto Sans Symbols"/>
                <a:ea typeface="Poppins Black"/>
                <a:cs typeface="Poppins Black"/>
                <a:sym typeface="Poppins Black"/>
              </a:rPr>
              <a:t>,  presenting…</a:t>
            </a:r>
            <a:endParaRPr sz="4400" b="1" i="0" u="none" strike="noStrike" cap="none" dirty="0">
              <a:solidFill>
                <a:schemeClr val="lt1"/>
              </a:solidFill>
              <a:latin typeface="Noto Sans Symbols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2817699" y="2505671"/>
            <a:ext cx="6556603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 message about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Light Pollution</a:t>
            </a:r>
            <a:endParaRPr sz="6600" b="0" i="0" u="none" strike="noStrike" cap="non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3739425" y="2888650"/>
            <a:ext cx="47131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Alokbarta</a:t>
            </a:r>
            <a:endParaRPr sz="66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3196031" y="2525938"/>
            <a:ext cx="5394656" cy="1631284"/>
            <a:chOff x="3196031" y="2525938"/>
            <a:chExt cx="5394656" cy="1631284"/>
          </a:xfrm>
        </p:grpSpPr>
        <p:sp>
          <p:nvSpPr>
            <p:cNvPr id="101" name="Google Shape;101;p3"/>
            <p:cNvSpPr/>
            <p:nvPr/>
          </p:nvSpPr>
          <p:spPr>
            <a:xfrm rot="-2801083">
              <a:off x="8169480" y="2686177"/>
              <a:ext cx="464024" cy="54591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 rot="-1588288">
              <a:off x="8347276" y="2963504"/>
              <a:ext cx="246123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 rot="1653903">
              <a:off x="3318495" y="3520300"/>
              <a:ext cx="351632" cy="65318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 rot="-1843676">
              <a:off x="3170355" y="3925883"/>
              <a:ext cx="532150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 rot="6139184" flipH="1">
              <a:off x="3631578" y="3998500"/>
              <a:ext cx="268145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3726258" y="2890494"/>
              <a:ext cx="471315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FEFE34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Alokbarta</a:t>
              </a:r>
              <a:endParaRPr sz="6600">
                <a:solidFill>
                  <a:srgbClr val="FEFE34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4"/>
          <p:cNvGrpSpPr/>
          <p:nvPr/>
        </p:nvGrpSpPr>
        <p:grpSpPr>
          <a:xfrm>
            <a:off x="-710161" y="-170482"/>
            <a:ext cx="13612323" cy="7516679"/>
            <a:chOff x="-710161" y="-170482"/>
            <a:chExt cx="13612323" cy="7516679"/>
          </a:xfrm>
        </p:grpSpPr>
        <p:sp>
          <p:nvSpPr>
            <p:cNvPr id="112" name="Google Shape;112;p4"/>
            <p:cNvSpPr/>
            <p:nvPr/>
          </p:nvSpPr>
          <p:spPr>
            <a:xfrm>
              <a:off x="-710161" y="-170482"/>
              <a:ext cx="13612323" cy="7516679"/>
            </a:xfrm>
            <a:prstGeom prst="trapezoid">
              <a:avLst>
                <a:gd name="adj" fmla="val 68915"/>
              </a:avLst>
            </a:prstGeom>
            <a:gradFill>
              <a:gsLst>
                <a:gs pos="0">
                  <a:srgbClr val="FEFE34"/>
                </a:gs>
                <a:gs pos="37000">
                  <a:srgbClr val="B4B000"/>
                </a:gs>
                <a:gs pos="100000">
                  <a:srgbClr val="0F0F0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 txBox="1"/>
            <p:nvPr/>
          </p:nvSpPr>
          <p:spPr>
            <a:xfrm>
              <a:off x="3385161" y="1992897"/>
              <a:ext cx="5421677" cy="107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But first, what is actually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Light Pollution?</a:t>
              </a:r>
              <a:endParaRPr sz="3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4" name="Google Shape;114;p4"/>
          <p:cNvSpPr txBox="1"/>
          <p:nvPr/>
        </p:nvSpPr>
        <p:spPr>
          <a:xfrm>
            <a:off x="1393674" y="5063010"/>
            <a:ext cx="94046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Light pollution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the human-made alteration of outdoor light levels from those occurring naturally. When an excessive quantity of light is emitted from a more than sufficient source, it is also defined as light pollution.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1150430" y="0"/>
            <a:ext cx="2312298" cy="82677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930971" y="-1428750"/>
            <a:ext cx="2312298" cy="8286750"/>
          </a:xfrm>
          <a:prstGeom prst="rect">
            <a:avLst/>
          </a:prstGeom>
          <a:solidFill>
            <a:srgbClr val="D49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591536" y="0"/>
            <a:ext cx="2312298" cy="8267700"/>
          </a:xfrm>
          <a:prstGeom prst="rect">
            <a:avLst/>
          </a:prstGeom>
          <a:solidFill>
            <a:srgbClr val="8698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>
            <a:off x="1001973" y="409657"/>
            <a:ext cx="10633880" cy="5011102"/>
            <a:chOff x="1001973" y="409657"/>
            <a:chExt cx="10633880" cy="5011102"/>
          </a:xfrm>
        </p:grpSpPr>
        <p:sp>
          <p:nvSpPr>
            <p:cNvPr id="124" name="Google Shape;124;p5"/>
            <p:cNvSpPr/>
            <p:nvPr/>
          </p:nvSpPr>
          <p:spPr>
            <a:xfrm>
              <a:off x="2186570" y="409657"/>
              <a:ext cx="7818861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0" i="0" u="none" strike="noStrike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The sources of light pollution</a:t>
              </a:r>
              <a:endParaRPr sz="4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1001973" y="1831525"/>
              <a:ext cx="2634017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Lampposts</a:t>
              </a:r>
              <a:endParaRPr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4428129" y="1831522"/>
              <a:ext cx="3335741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Vehicle Light</a:t>
              </a:r>
              <a:endParaRPr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866797" y="1831523"/>
              <a:ext cx="376905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LED Glow Lights</a:t>
              </a:r>
              <a:endParaRPr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pic>
          <p:nvPicPr>
            <p:cNvPr id="128" name="Google Shape;128;p5"/>
            <p:cNvPicPr preferRelativeResize="0"/>
            <p:nvPr/>
          </p:nvPicPr>
          <p:blipFill rotWithShape="1">
            <a:blip r:embed="rId3">
              <a:alphaModFix/>
            </a:blip>
            <a:srcRect l="45194" t="133" r="27013" b="-79"/>
            <a:stretch/>
          </p:blipFill>
          <p:spPr>
            <a:xfrm>
              <a:off x="1150431" y="2508188"/>
              <a:ext cx="2312298" cy="2912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5"/>
            <p:cNvPicPr preferRelativeResize="0"/>
            <p:nvPr/>
          </p:nvPicPr>
          <p:blipFill rotWithShape="1">
            <a:blip r:embed="rId4">
              <a:alphaModFix/>
            </a:blip>
            <a:srcRect l="24944" r="21819"/>
            <a:stretch/>
          </p:blipFill>
          <p:spPr>
            <a:xfrm>
              <a:off x="4930971" y="2508188"/>
              <a:ext cx="2315649" cy="2912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5"/>
            <p:cNvPicPr preferRelativeResize="0"/>
            <p:nvPr/>
          </p:nvPicPr>
          <p:blipFill rotWithShape="1">
            <a:blip r:embed="rId5">
              <a:alphaModFix/>
            </a:blip>
            <a:srcRect l="23911" t="50" r="22986" b="10927"/>
            <a:stretch/>
          </p:blipFill>
          <p:spPr>
            <a:xfrm>
              <a:off x="8591536" y="2508188"/>
              <a:ext cx="2312298" cy="29125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5"/>
          <p:cNvSpPr/>
          <p:nvPr/>
        </p:nvSpPr>
        <p:spPr>
          <a:xfrm>
            <a:off x="2537913" y="3130276"/>
            <a:ext cx="711617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>
                <a:solidFill>
                  <a:srgbClr val="FF0000"/>
                </a:solidFill>
                <a:latin typeface="Poppins Black"/>
                <a:ea typeface="Poppins Black"/>
                <a:cs typeface="Poppins Black"/>
                <a:sym typeface="Poppins Black"/>
              </a:rPr>
              <a:t>And so many!</a:t>
            </a:r>
            <a:endParaRPr sz="6600">
              <a:solidFill>
                <a:srgbClr val="FF0000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5842517" y="1866744"/>
            <a:ext cx="5480728" cy="651602"/>
          </a:xfrm>
          <a:prstGeom prst="rect">
            <a:avLst/>
          </a:prstGeom>
          <a:solidFill>
            <a:srgbClr val="A311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52519" y="2962460"/>
            <a:ext cx="9276899" cy="653888"/>
          </a:xfrm>
          <a:prstGeom prst="rect">
            <a:avLst/>
          </a:prstGeom>
          <a:solidFill>
            <a:srgbClr val="3145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44504" y="5247907"/>
            <a:ext cx="9284914" cy="684767"/>
          </a:xfrm>
          <a:prstGeom prst="rect">
            <a:avLst/>
          </a:prstGeom>
          <a:solidFill>
            <a:srgbClr val="423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52519" y="4094423"/>
            <a:ext cx="3954257" cy="632832"/>
          </a:xfrm>
          <a:prstGeom prst="rect">
            <a:avLst/>
          </a:prstGeom>
          <a:solidFill>
            <a:srgbClr val="8852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851875" y="1968451"/>
            <a:ext cx="54713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disruption of the circadian rhythm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769882" y="505563"/>
            <a:ext cx="46522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Effects of Light Pollution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13235" y="1186017"/>
            <a:ext cx="46105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 human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light pollution might cause,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744505" y="3086280"/>
            <a:ext cx="1057874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sleep disorders such as insomnia and delayed sleep-phase syndrome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744504" y="5350008"/>
            <a:ext cx="92849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depression, hypertension, attention deficit disorder, obesity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839154" y="4163453"/>
            <a:ext cx="431732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Diabetes, Heart disease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r="18515" b="16804"/>
          <a:stretch/>
        </p:blipFill>
        <p:spPr>
          <a:xfrm flipH="1">
            <a:off x="10026415" y="2966045"/>
            <a:ext cx="1285813" cy="65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l="24478"/>
          <a:stretch/>
        </p:blipFill>
        <p:spPr>
          <a:xfrm>
            <a:off x="10027426" y="5247907"/>
            <a:ext cx="1295819" cy="68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/>
          <p:cNvPicPr preferRelativeResize="0"/>
          <p:nvPr/>
        </p:nvPicPr>
        <p:blipFill rotWithShape="1">
          <a:blip r:embed="rId5">
            <a:alphaModFix/>
          </a:blip>
          <a:srcRect b="27763"/>
          <a:stretch/>
        </p:blipFill>
        <p:spPr>
          <a:xfrm>
            <a:off x="4793411" y="4094423"/>
            <a:ext cx="1564395" cy="63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4503" y="1866743"/>
            <a:ext cx="5107372" cy="651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1181591" y="2376897"/>
            <a:ext cx="6654225" cy="862992"/>
          </a:xfrm>
          <a:prstGeom prst="rect">
            <a:avLst/>
          </a:prstGeom>
          <a:solidFill>
            <a:srgbClr val="323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81591" y="3646212"/>
            <a:ext cx="6654225" cy="862992"/>
          </a:xfrm>
          <a:prstGeom prst="rect">
            <a:avLst/>
          </a:prstGeom>
          <a:solidFill>
            <a:srgbClr val="8152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81592" y="4929180"/>
            <a:ext cx="3379290" cy="862992"/>
          </a:xfrm>
          <a:prstGeom prst="rect">
            <a:avLst/>
          </a:prstGeom>
          <a:solidFill>
            <a:srgbClr val="4149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1181591" y="1522442"/>
            <a:ext cx="50273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 nature</a:t>
            </a: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light pollution might cause,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181591" y="2482408"/>
            <a:ext cx="65181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impacts animal behaviors, such as migration patterns,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wake-sleep habits, and habitat formation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1317685" y="3754543"/>
            <a:ext cx="62776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sea turtles and birds guided by moonlight during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migration get confused, lose their way, and often die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181591" y="5129844"/>
            <a:ext cx="32431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Stargazing problem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3769882" y="505563"/>
            <a:ext cx="46522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Effects of Light Pollution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935910" y="2376897"/>
            <a:ext cx="1933102" cy="86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t="7812" b="17576"/>
          <a:stretch/>
        </p:blipFill>
        <p:spPr>
          <a:xfrm>
            <a:off x="7887784" y="3619502"/>
            <a:ext cx="1612584" cy="88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5">
            <a:alphaModFix/>
          </a:blip>
          <a:srcRect b="28375"/>
          <a:stretch/>
        </p:blipFill>
        <p:spPr>
          <a:xfrm>
            <a:off x="4634974" y="4915527"/>
            <a:ext cx="2187857" cy="877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1747205" y="2518566"/>
            <a:ext cx="87703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journey can be described into three steps:</a:t>
            </a:r>
            <a:endParaRPr sz="2800">
              <a:solidFill>
                <a:srgbClr val="F2F2F2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930516" y="3474363"/>
            <a:ext cx="1040372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Field Data Collection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Experiment, observe old solutions and invent new ones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Sharing our findings among others (via Science Expos, Research paper etc.)</a:t>
            </a:r>
            <a:endParaRPr sz="24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171" name="Google Shape;171;p8"/>
          <p:cNvGrpSpPr/>
          <p:nvPr/>
        </p:nvGrpSpPr>
        <p:grpSpPr>
          <a:xfrm>
            <a:off x="1886293" y="443288"/>
            <a:ext cx="8602798" cy="1458088"/>
            <a:chOff x="3196031" y="2699134"/>
            <a:chExt cx="8602798" cy="1458088"/>
          </a:xfrm>
        </p:grpSpPr>
        <p:sp>
          <p:nvSpPr>
            <p:cNvPr id="172" name="Google Shape;172;p8"/>
            <p:cNvSpPr/>
            <p:nvPr/>
          </p:nvSpPr>
          <p:spPr>
            <a:xfrm rot="-2801083">
              <a:off x="11371752" y="2859373"/>
              <a:ext cx="464024" cy="54591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 rot="-1588288">
              <a:off x="11555418" y="3107882"/>
              <a:ext cx="246123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 rot="1653903">
              <a:off x="3318495" y="3520300"/>
              <a:ext cx="351632" cy="65318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 rot="-1843676">
              <a:off x="3170355" y="3925883"/>
              <a:ext cx="532150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 rot="6139184" flipH="1">
              <a:off x="3631578" y="3998500"/>
              <a:ext cx="268145" cy="45719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3697516" y="2970430"/>
              <a:ext cx="801854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FEFE34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Project Alokbarta</a:t>
              </a:r>
              <a:endParaRPr sz="6600">
                <a:solidFill>
                  <a:srgbClr val="FEFE34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/>
        </p:nvSpPr>
        <p:spPr>
          <a:xfrm>
            <a:off x="3231537" y="438887"/>
            <a:ext cx="567174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Step-1: Data Collection</a:t>
            </a:r>
            <a:endParaRPr sz="36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376" y="1778960"/>
            <a:ext cx="4492258" cy="3498894"/>
          </a:xfrm>
          <a:prstGeom prst="rect">
            <a:avLst/>
          </a:prstGeom>
          <a:noFill/>
          <a:ln w="76200" cap="flat" cmpd="sng">
            <a:solidFill>
              <a:srgbClr val="FEE5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0860" y="1778960"/>
            <a:ext cx="3284844" cy="3498894"/>
          </a:xfrm>
          <a:prstGeom prst="rect">
            <a:avLst/>
          </a:prstGeom>
          <a:noFill/>
          <a:ln w="76200" cap="flat" cmpd="sng">
            <a:solidFill>
              <a:srgbClr val="FEE59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9"/>
          <p:cNvSpPr txBox="1"/>
          <p:nvPr/>
        </p:nvSpPr>
        <p:spPr>
          <a:xfrm>
            <a:off x="2066672" y="5445284"/>
            <a:ext cx="28536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Lumen &amp; Lux</a:t>
            </a:r>
            <a:endParaRPr sz="3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7934238" y="5493108"/>
            <a:ext cx="229101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Lux Meter</a:t>
            </a:r>
            <a:endParaRPr sz="3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/>
        </p:nvSpPr>
        <p:spPr>
          <a:xfrm>
            <a:off x="905431" y="1481624"/>
            <a:ext cx="349166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Step-1: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Data Collection</a:t>
            </a:r>
            <a:endParaRPr sz="3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7495" y="-1"/>
            <a:ext cx="4764505" cy="68870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905431" y="3099949"/>
            <a:ext cx="595868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main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research areas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(Among Dhaka City)</a:t>
            </a:r>
            <a:endParaRPr sz="4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/>
        </p:nvSpPr>
        <p:spPr>
          <a:xfrm>
            <a:off x="786823" y="1378313"/>
            <a:ext cx="526778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Why Dhaka City?</a:t>
            </a:r>
            <a:endParaRPr sz="44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199" name="Google Shape;199;p11"/>
          <p:cNvGrpSpPr/>
          <p:nvPr/>
        </p:nvGrpSpPr>
        <p:grpSpPr>
          <a:xfrm>
            <a:off x="6520070" y="0"/>
            <a:ext cx="5671930" cy="6897757"/>
            <a:chOff x="3575685" y="1975485"/>
            <a:chExt cx="2310235" cy="2809527"/>
          </a:xfrm>
        </p:grpSpPr>
        <p:pic>
          <p:nvPicPr>
            <p:cNvPr id="200" name="Google Shape;200;p11"/>
            <p:cNvPicPr preferRelativeResize="0"/>
            <p:nvPr/>
          </p:nvPicPr>
          <p:blipFill rotWithShape="1">
            <a:blip r:embed="rId3">
              <a:alphaModFix/>
            </a:blip>
            <a:srcRect t="5129" r="3368" b="3140"/>
            <a:stretch/>
          </p:blipFill>
          <p:spPr>
            <a:xfrm>
              <a:off x="3575685" y="1975485"/>
              <a:ext cx="2310235" cy="2809527"/>
            </a:xfrm>
            <a:prstGeom prst="rect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1" name="Google Shape;201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86699" y="3053715"/>
              <a:ext cx="725805" cy="971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11"/>
          <p:cNvSpPr txBox="1"/>
          <p:nvPr/>
        </p:nvSpPr>
        <p:spPr>
          <a:xfrm>
            <a:off x="786823" y="2992831"/>
            <a:ext cx="5474829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Most affected area in Bangladesh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Most densely-populated area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12"/>
          <p:cNvGraphicFramePr/>
          <p:nvPr/>
        </p:nvGraphicFramePr>
        <p:xfrm>
          <a:off x="936332" y="1721046"/>
          <a:ext cx="10319350" cy="4039525"/>
        </p:xfrm>
        <a:graphic>
          <a:graphicData uri="http://schemas.openxmlformats.org/drawingml/2006/table">
            <a:tbl>
              <a:tblPr>
                <a:noFill/>
                <a:tableStyleId>{EC8EE665-0CFB-4EB7-A3C9-63D2D931023C}</a:tableStyleId>
              </a:tblPr>
              <a:tblGrid>
                <a:gridCol w="298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8900">
                <a:tc>
                  <a:txBody>
                    <a:bodyPr/>
                    <a:lstStyle/>
                    <a:p>
                      <a:pPr marL="567055" marR="168275" lvl="0" indent="-390525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 Building Area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Observation Number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Mean value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3175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strike="noStrike" cap="none" baseline="30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SUM of every data</a:t>
                      </a:r>
                      <a:r>
                        <a:rPr lang="en-US" sz="2700" u="none" strike="noStrike" cap="none" baseline="30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3810" marR="0" lvl="0" indent="0" algn="ctr" rtl="0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Total observations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6675" lvl="0" indent="150495" algn="ctr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IES* Standard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6200" marR="66675" lvl="0" indent="150495" algn="ctr" rtl="0">
                        <a:lnSpc>
                          <a:spcPct val="108000"/>
                        </a:lnSpc>
                        <a:spcBef>
                          <a:spcPts val="3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Illumination Level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00">
                <a:tc gridSpan="4"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Shop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8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Conventionals with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0" lvl="0" indent="0" algn="l" rtl="0">
                        <a:spcBef>
                          <a:spcPts val="1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counters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39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1358.92</a:t>
                      </a:r>
                      <a:endParaRPr sz="17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500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0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Supermarkets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259.85</a:t>
                      </a:r>
                      <a:endParaRPr sz="17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500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2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Conventionals with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0" lvl="0" indent="0" algn="l" rtl="0">
                        <a:spcBef>
                          <a:spcPts val="1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wall display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1751.06</a:t>
                      </a:r>
                      <a:endParaRPr sz="17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500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0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34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794.68</a:t>
                      </a:r>
                      <a:endParaRPr sz="17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500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00">
                <a:tc gridSpan="4"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Staff Restaurants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8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Centre cafeterias,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0" lvl="0" indent="0" algn="l" rtl="0">
                        <a:spcBef>
                          <a:spcPts val="1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dining room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515.91</a:t>
                      </a:r>
                      <a:endParaRPr sz="17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300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0775" marR="1107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08" name="Google Shape;208;p12"/>
          <p:cNvCxnSpPr/>
          <p:nvPr/>
        </p:nvCxnSpPr>
        <p:spPr>
          <a:xfrm>
            <a:off x="6208491" y="2378131"/>
            <a:ext cx="1989025" cy="121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2"/>
          <p:cNvSpPr txBox="1"/>
          <p:nvPr/>
        </p:nvSpPr>
        <p:spPr>
          <a:xfrm>
            <a:off x="4601841" y="577549"/>
            <a:ext cx="29883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Findings</a:t>
            </a:r>
            <a:endParaRPr sz="4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070558" y="6088187"/>
            <a:ext cx="515397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*IES – Illuminating Engineering Society 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964627" y="258435"/>
            <a:ext cx="102627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Step-2: Experiment, observe old solutions and invent new ones</a:t>
            </a:r>
            <a:endParaRPr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6064" y="2199569"/>
            <a:ext cx="7159871" cy="350087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17" name="Google Shape;217;p13"/>
          <p:cNvGrpSpPr/>
          <p:nvPr/>
        </p:nvGrpSpPr>
        <p:grpSpPr>
          <a:xfrm>
            <a:off x="-55135" y="1335640"/>
            <a:ext cx="12247135" cy="5381627"/>
            <a:chOff x="-55135" y="1335640"/>
            <a:chExt cx="12247135" cy="5381627"/>
          </a:xfrm>
        </p:grpSpPr>
        <p:sp>
          <p:nvSpPr>
            <p:cNvPr id="218" name="Google Shape;218;p13"/>
            <p:cNvSpPr/>
            <p:nvPr/>
          </p:nvSpPr>
          <p:spPr>
            <a:xfrm rot="1140645">
              <a:off x="3536020" y="2283682"/>
              <a:ext cx="878056" cy="2862825"/>
            </a:xfrm>
            <a:prstGeom prst="ellipse">
              <a:avLst/>
            </a:prstGeom>
            <a:noFill/>
            <a:ln w="762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9" name="Google Shape;219;p13"/>
            <p:cNvCxnSpPr>
              <a:stCxn id="218" idx="2"/>
            </p:cNvCxnSpPr>
            <p:nvPr/>
          </p:nvCxnSpPr>
          <p:spPr>
            <a:xfrm rot="10800000">
              <a:off x="2194666" y="3031183"/>
              <a:ext cx="1365300" cy="54090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0" name="Google Shape;220;p13"/>
            <p:cNvSpPr/>
            <p:nvPr/>
          </p:nvSpPr>
          <p:spPr>
            <a:xfrm rot="382531">
              <a:off x="4680414" y="2142403"/>
              <a:ext cx="878056" cy="2303192"/>
            </a:xfrm>
            <a:prstGeom prst="ellipse">
              <a:avLst/>
            </a:prstGeom>
            <a:noFill/>
            <a:ln w="762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13"/>
            <p:cNvCxnSpPr>
              <a:stCxn id="220" idx="0"/>
            </p:cNvCxnSpPr>
            <p:nvPr/>
          </p:nvCxnSpPr>
          <p:spPr>
            <a:xfrm rot="10800000" flipH="1">
              <a:off x="5247320" y="1773625"/>
              <a:ext cx="84900" cy="37590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2" name="Google Shape;222;p13"/>
            <p:cNvSpPr/>
            <p:nvPr/>
          </p:nvSpPr>
          <p:spPr>
            <a:xfrm rot="5400000">
              <a:off x="7182086" y="2885799"/>
              <a:ext cx="777322" cy="2303192"/>
            </a:xfrm>
            <a:prstGeom prst="ellipse">
              <a:avLst/>
            </a:prstGeom>
            <a:noFill/>
            <a:ln w="762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" name="Google Shape;223;p13"/>
            <p:cNvCxnSpPr/>
            <p:nvPr/>
          </p:nvCxnSpPr>
          <p:spPr>
            <a:xfrm>
              <a:off x="7735196" y="4408083"/>
              <a:ext cx="975962" cy="1485348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4" name="Google Shape;224;p13"/>
            <p:cNvSpPr/>
            <p:nvPr/>
          </p:nvSpPr>
          <p:spPr>
            <a:xfrm rot="4917196">
              <a:off x="5317813" y="3603889"/>
              <a:ext cx="350907" cy="2156841"/>
            </a:xfrm>
            <a:prstGeom prst="ellipse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5" name="Google Shape;225;p13"/>
            <p:cNvCxnSpPr>
              <a:stCxn id="224" idx="5"/>
            </p:cNvCxnSpPr>
            <p:nvPr/>
          </p:nvCxnSpPr>
          <p:spPr>
            <a:xfrm flipH="1">
              <a:off x="3335083" y="4911896"/>
              <a:ext cx="1420500" cy="1003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6" name="Google Shape;226;p13"/>
            <p:cNvSpPr/>
            <p:nvPr/>
          </p:nvSpPr>
          <p:spPr>
            <a:xfrm rot="5400000">
              <a:off x="7350958" y="2009132"/>
              <a:ext cx="849358" cy="2043862"/>
            </a:xfrm>
            <a:prstGeom prst="ellipse">
              <a:avLst/>
            </a:prstGeom>
            <a:noFill/>
            <a:ln w="762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7" name="Google Shape;227;p13"/>
            <p:cNvCxnSpPr>
              <a:stCxn id="226" idx="0"/>
            </p:cNvCxnSpPr>
            <p:nvPr/>
          </p:nvCxnSpPr>
          <p:spPr>
            <a:xfrm rot="10800000" flipH="1">
              <a:off x="8797568" y="2821963"/>
              <a:ext cx="1184400" cy="20910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8" name="Google Shape;228;p13"/>
            <p:cNvSpPr txBox="1"/>
            <p:nvPr/>
          </p:nvSpPr>
          <p:spPr>
            <a:xfrm>
              <a:off x="10003819" y="2522749"/>
              <a:ext cx="218818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Using more silver-plated Glass</a:t>
              </a:r>
              <a:endParaRPr/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1142876" y="1335640"/>
              <a:ext cx="82937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Ensuring proper light anglement and height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3"/>
            <p:cNvSpPr txBox="1"/>
            <p:nvPr/>
          </p:nvSpPr>
          <p:spPr>
            <a:xfrm>
              <a:off x="-55135" y="2374428"/>
              <a:ext cx="2635669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Using proper shades for street lights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3"/>
            <p:cNvSpPr txBox="1"/>
            <p:nvPr/>
          </p:nvSpPr>
          <p:spPr>
            <a:xfrm>
              <a:off x="1007755" y="5886270"/>
              <a:ext cx="4254531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Controlling street lights by using AI and sensor</a:t>
              </a:r>
              <a:endParaRPr/>
            </a:p>
          </p:txBody>
        </p:sp>
        <p:sp>
          <p:nvSpPr>
            <p:cNvPr id="232" name="Google Shape;232;p13"/>
            <p:cNvSpPr txBox="1"/>
            <p:nvPr/>
          </p:nvSpPr>
          <p:spPr>
            <a:xfrm>
              <a:off x="6503740" y="5915274"/>
              <a:ext cx="47501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Using Proper color light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33" name="Google Shape;233;p13"/>
          <p:cNvSpPr txBox="1"/>
          <p:nvPr/>
        </p:nvSpPr>
        <p:spPr>
          <a:xfrm>
            <a:off x="4614665" y="754560"/>
            <a:ext cx="29626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 Model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625457" y="1023091"/>
            <a:ext cx="917751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Solution-1: using more silver-plated glass</a:t>
            </a:r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l="12724" r="19408"/>
          <a:stretch/>
        </p:blipFill>
        <p:spPr>
          <a:xfrm>
            <a:off x="4419914" y="2251674"/>
            <a:ext cx="3521678" cy="292798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2" name="Google Shape;242;p14"/>
          <p:cNvPicPr preferRelativeResize="0"/>
          <p:nvPr/>
        </p:nvPicPr>
        <p:blipFill rotWithShape="1">
          <a:blip r:embed="rId4">
            <a:alphaModFix/>
          </a:blip>
          <a:srcRect t="16180" r="8962" b="22474"/>
          <a:stretch/>
        </p:blipFill>
        <p:spPr>
          <a:xfrm rot="-5400000">
            <a:off x="975580" y="1987419"/>
            <a:ext cx="2898142" cy="348633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3" name="Google Shape;243;p14" descr="Char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47474" y="2251673"/>
            <a:ext cx="3269038" cy="292798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 txBox="1"/>
          <p:nvPr/>
        </p:nvSpPr>
        <p:spPr>
          <a:xfrm>
            <a:off x="701807" y="5192250"/>
            <a:ext cx="34660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Transparent Glass</a:t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4419914" y="5179658"/>
            <a:ext cx="349131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One-way Reflective Glass</a:t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8336337" y="5237406"/>
            <a:ext cx="34913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Comparison</a:t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7" name="Google Shape;247;p14"/>
          <p:cNvGrpSpPr/>
          <p:nvPr/>
        </p:nvGrpSpPr>
        <p:grpSpPr>
          <a:xfrm rot="2566545">
            <a:off x="6113954" y="1702212"/>
            <a:ext cx="505317" cy="1114906"/>
            <a:chOff x="1243584" y="4632960"/>
            <a:chExt cx="768096" cy="1694688"/>
          </a:xfrm>
        </p:grpSpPr>
        <p:sp>
          <p:nvSpPr>
            <p:cNvPr id="248" name="Google Shape;248;p14"/>
            <p:cNvSpPr/>
            <p:nvPr/>
          </p:nvSpPr>
          <p:spPr>
            <a:xfrm>
              <a:off x="1243584" y="6089904"/>
              <a:ext cx="768096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 rot="-5400000">
              <a:off x="1045464" y="5361432"/>
              <a:ext cx="1694688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4"/>
          <p:cNvGrpSpPr/>
          <p:nvPr/>
        </p:nvGrpSpPr>
        <p:grpSpPr>
          <a:xfrm>
            <a:off x="2018969" y="1875207"/>
            <a:ext cx="831689" cy="853363"/>
            <a:chOff x="2100437" y="2848563"/>
            <a:chExt cx="857045" cy="879381"/>
          </a:xfrm>
        </p:grpSpPr>
        <p:sp>
          <p:nvSpPr>
            <p:cNvPr id="251" name="Google Shape;251;p14"/>
            <p:cNvSpPr/>
            <p:nvPr/>
          </p:nvSpPr>
          <p:spPr>
            <a:xfrm rot="2566545">
              <a:off x="2031229" y="3211014"/>
              <a:ext cx="995462" cy="1860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 rot="7819152">
              <a:off x="2031229" y="3195223"/>
              <a:ext cx="995462" cy="1860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15"/>
          <p:cNvGraphicFramePr/>
          <p:nvPr/>
        </p:nvGraphicFramePr>
        <p:xfrm>
          <a:off x="1418492" y="1822008"/>
          <a:ext cx="9355025" cy="2044383"/>
        </p:xfrm>
        <a:graphic>
          <a:graphicData uri="http://schemas.openxmlformats.org/drawingml/2006/table">
            <a:tbl>
              <a:tblPr>
                <a:noFill/>
                <a:tableStyleId>{EC8EE665-0CFB-4EB7-A3C9-63D2D931023C}</a:tableStyleId>
              </a:tblPr>
              <a:tblGrid>
                <a:gridCol w="251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775">
                <a:tc>
                  <a:txBody>
                    <a:bodyPr/>
                    <a:lstStyle/>
                    <a:p>
                      <a:pPr marL="7747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Shopping Malls/Shop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Available/Active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Work Hour</a:t>
                      </a:r>
                      <a:endParaRPr/>
                    </a:p>
                    <a:p>
                      <a:pPr marL="77470" marR="0" lvl="0" indent="0" algn="ctr" rtl="0"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(hr)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Area (sqft)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Extra Lighting</a:t>
                      </a:r>
                      <a:endParaRPr/>
                    </a:p>
                    <a:p>
                      <a:pPr marL="77470" marR="0" lvl="0" indent="0" algn="ctr" rtl="0">
                        <a:spcBef>
                          <a:spcPts val="1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(hr)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Basundara shopping</a:t>
                      </a:r>
                      <a:endParaRPr/>
                    </a:p>
                    <a:p>
                      <a:pPr marL="77470" marR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complex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 A.M- 9 P.M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1,91,200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Jamuna Future Park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 A.M- 8 P.M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r>
                        <a:rPr lang="en-US" sz="11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,00,000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Dhaka New Market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 A.M - 9P.M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5,60,683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Rapa Plaza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 A.M - 8 P.M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1,00,000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 gridSpan="2"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Average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10.25hr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1237970.75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1.5hr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8" name="Google Shape;258;p15"/>
          <p:cNvGraphicFramePr/>
          <p:nvPr/>
        </p:nvGraphicFramePr>
        <p:xfrm>
          <a:off x="740229" y="4631168"/>
          <a:ext cx="10711550" cy="1525270"/>
        </p:xfrm>
        <a:graphic>
          <a:graphicData uri="http://schemas.openxmlformats.org/drawingml/2006/table">
            <a:tbl>
              <a:tblPr>
                <a:noFill/>
                <a:tableStyleId>{EC8EE665-0CFB-4EB7-A3C9-63D2D931023C}</a:tableStyleId>
              </a:tblPr>
              <a:tblGrid>
                <a:gridCol w="187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0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7850">
                <a:tc>
                  <a:txBody>
                    <a:bodyPr/>
                    <a:lstStyle/>
                    <a:p>
                      <a:pPr marL="7747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Schedule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 Requirement (lumens/sqft)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ctr" rtl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Energy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68580" lvl="0" indent="0" algn="ctr" rtl="0">
                        <a:spcBef>
                          <a:spcPts val="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Requirement (watt/sqft)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20015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Avg Area (sqft)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Time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6200" marR="0" lvl="0" indent="0" algn="ctr" rtl="0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(Lighting hour)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Consumption (kw/hr)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69850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Savings (kw/hr)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Current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0" lvl="0" indent="0" algn="l" rtl="0">
                        <a:spcBef>
                          <a:spcPts val="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(10A.M-8:30PM)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69.67728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0.753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12,37,970.75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2.5hr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2330.4799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1398.28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5565" marR="0" lvl="0" indent="0" algn="l" rtl="0">
                        <a:spcBef>
                          <a:spcPts val="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(60%)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Suggesting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77470" marR="0" lvl="0" indent="0" algn="l" rtl="0">
                        <a:spcBef>
                          <a:spcPts val="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(10A.M-7P.M)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69.67728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0.753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12,37,970.75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1hr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932.19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8575" marR="68575" marT="0" marB="0">
                    <a:solidFill>
                      <a:srgbClr val="0F0F0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9" name="Google Shape;259;p15"/>
          <p:cNvSpPr txBox="1"/>
          <p:nvPr/>
        </p:nvSpPr>
        <p:spPr>
          <a:xfrm>
            <a:off x="1276187" y="872233"/>
            <a:ext cx="935501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Solution-2: maintaining advancing schedule to reduce light pollution as well as energy loss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1418493" y="3878593"/>
            <a:ext cx="93550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Current Schedule of Shopping Malls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1418493" y="6163169"/>
            <a:ext cx="93550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Energy consumption of shopping malls (current vs suggesting)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571" y="2243792"/>
            <a:ext cx="5082246" cy="313595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1276187" y="1088985"/>
            <a:ext cx="935501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Solution-2: maintaining advancing schedule to reduce light pollution as well as energy loss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2207566" y="5461391"/>
            <a:ext cx="74922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Comparison of energy-consumption</a:t>
            </a:r>
            <a:endParaRPr sz="24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7"/>
          <p:cNvPicPr preferRelativeResize="0"/>
          <p:nvPr/>
        </p:nvPicPr>
        <p:blipFill rotWithShape="1">
          <a:blip r:embed="rId3">
            <a:alphaModFix/>
          </a:blip>
          <a:srcRect l="29252" r="6742"/>
          <a:stretch/>
        </p:blipFill>
        <p:spPr>
          <a:xfrm rot="-5400000">
            <a:off x="-580030" y="388959"/>
            <a:ext cx="6933064" cy="6100549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6" name="Google Shape;276;p17"/>
          <p:cNvSpPr txBox="1"/>
          <p:nvPr/>
        </p:nvSpPr>
        <p:spPr>
          <a:xfrm>
            <a:off x="7593398" y="188449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7369617" y="916384"/>
            <a:ext cx="480873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Solution-3: using proper shades for street lights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 rot="5400000">
            <a:off x="4238327" y="-427222"/>
            <a:ext cx="1281495" cy="1678677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7"/>
          <p:cNvCxnSpPr>
            <a:stCxn id="278" idx="7"/>
          </p:cNvCxnSpPr>
          <p:nvPr/>
        </p:nvCxnSpPr>
        <p:spPr>
          <a:xfrm>
            <a:off x="5472576" y="865193"/>
            <a:ext cx="2975400" cy="191460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0" name="Google Shape;280;p17"/>
          <p:cNvSpPr/>
          <p:nvPr/>
        </p:nvSpPr>
        <p:spPr>
          <a:xfrm rot="5400000">
            <a:off x="3626452" y="666602"/>
            <a:ext cx="1281495" cy="1678677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7"/>
          <p:cNvCxnSpPr>
            <a:stCxn id="280" idx="7"/>
          </p:cNvCxnSpPr>
          <p:nvPr/>
        </p:nvCxnSpPr>
        <p:spPr>
          <a:xfrm>
            <a:off x="4860701" y="1959017"/>
            <a:ext cx="3587400" cy="187590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2" name="Google Shape;282;p17"/>
          <p:cNvSpPr/>
          <p:nvPr/>
        </p:nvSpPr>
        <p:spPr>
          <a:xfrm rot="5400000">
            <a:off x="2253866" y="1918003"/>
            <a:ext cx="1732661" cy="2269676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7"/>
          <p:cNvCxnSpPr>
            <a:stCxn id="282" idx="7"/>
          </p:cNvCxnSpPr>
          <p:nvPr/>
        </p:nvCxnSpPr>
        <p:spPr>
          <a:xfrm>
            <a:off x="3922648" y="3665429"/>
            <a:ext cx="4525200" cy="132840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4" name="Google Shape;284;p17"/>
          <p:cNvSpPr/>
          <p:nvPr/>
        </p:nvSpPr>
        <p:spPr>
          <a:xfrm rot="5400000">
            <a:off x="508001" y="3525165"/>
            <a:ext cx="1732661" cy="2269676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7"/>
          <p:cNvCxnSpPr>
            <a:stCxn id="284" idx="7"/>
          </p:cNvCxnSpPr>
          <p:nvPr/>
        </p:nvCxnSpPr>
        <p:spPr>
          <a:xfrm>
            <a:off x="2176783" y="5272591"/>
            <a:ext cx="6271200" cy="86040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6" name="Google Shape;286;p17"/>
          <p:cNvSpPr txBox="1"/>
          <p:nvPr/>
        </p:nvSpPr>
        <p:spPr>
          <a:xfrm>
            <a:off x="8612634" y="2567905"/>
            <a:ext cx="21098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Without cover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8344035" y="5932936"/>
            <a:ext cx="28598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One-sided (Flat)</a:t>
            </a:r>
            <a:endParaRPr sz="2000" dirty="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8612634" y="4872482"/>
            <a:ext cx="33393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Two-sided (Triangular)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8670260" y="3634862"/>
            <a:ext cx="24208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Entirely Covered</a:t>
            </a:r>
            <a:endParaRPr sz="2000" dirty="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290" name="Google Shape;290;p17"/>
          <p:cNvGrpSpPr/>
          <p:nvPr/>
        </p:nvGrpSpPr>
        <p:grpSpPr>
          <a:xfrm rot="2566545">
            <a:off x="2338758" y="1500152"/>
            <a:ext cx="432342" cy="953897"/>
            <a:chOff x="1243584" y="4632960"/>
            <a:chExt cx="768096" cy="1694688"/>
          </a:xfrm>
        </p:grpSpPr>
        <p:sp>
          <p:nvSpPr>
            <p:cNvPr id="291" name="Google Shape;291;p17"/>
            <p:cNvSpPr/>
            <p:nvPr/>
          </p:nvSpPr>
          <p:spPr>
            <a:xfrm>
              <a:off x="1243584" y="6089904"/>
              <a:ext cx="768096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7"/>
            <p:cNvSpPr/>
            <p:nvPr/>
          </p:nvSpPr>
          <p:spPr>
            <a:xfrm rot="-5400000">
              <a:off x="1045464" y="5361432"/>
              <a:ext cx="1694688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8"/>
          <p:cNvPicPr preferRelativeResize="0"/>
          <p:nvPr/>
        </p:nvPicPr>
        <p:blipFill rotWithShape="1">
          <a:blip r:embed="rId3">
            <a:alphaModFix/>
          </a:blip>
          <a:srcRect l="6975"/>
          <a:stretch/>
        </p:blipFill>
        <p:spPr>
          <a:xfrm>
            <a:off x="3807260" y="1498981"/>
            <a:ext cx="2268074" cy="431036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8" name="Google Shape;298;p18"/>
          <p:cNvPicPr preferRelativeResize="0"/>
          <p:nvPr/>
        </p:nvPicPr>
        <p:blipFill rotWithShape="1">
          <a:blip r:embed="rId4">
            <a:alphaModFix/>
          </a:blip>
          <a:srcRect l="32106" b="25732"/>
          <a:stretch/>
        </p:blipFill>
        <p:spPr>
          <a:xfrm>
            <a:off x="6316876" y="1496436"/>
            <a:ext cx="2223060" cy="431275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9" name="Google Shape;299;p18"/>
          <p:cNvPicPr preferRelativeResize="0"/>
          <p:nvPr/>
        </p:nvPicPr>
        <p:blipFill rotWithShape="1">
          <a:blip r:embed="rId5">
            <a:alphaModFix/>
          </a:blip>
          <a:srcRect l="10344" r="7585" b="7204"/>
          <a:stretch/>
        </p:blipFill>
        <p:spPr>
          <a:xfrm>
            <a:off x="8784564" y="1495636"/>
            <a:ext cx="2326188" cy="431275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6">
            <a:alphaModFix/>
          </a:blip>
          <a:srcRect l="20000" t="5325" b="16830"/>
          <a:stretch/>
        </p:blipFill>
        <p:spPr>
          <a:xfrm>
            <a:off x="1068043" y="1495635"/>
            <a:ext cx="2483534" cy="431350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1" name="Google Shape;301;p18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1276187" y="793557"/>
            <a:ext cx="93550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Solution-3: using proper shades for street lights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1297434" y="5808388"/>
            <a:ext cx="21098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Without cover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4127756" y="5808390"/>
            <a:ext cx="161294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One-sided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(Flat)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6500910" y="5808389"/>
            <a:ext cx="18549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Two-sided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(Triangular)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9260385" y="5808388"/>
            <a:ext cx="13244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Entirely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Covered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307" name="Google Shape;307;p18"/>
          <p:cNvGrpSpPr/>
          <p:nvPr/>
        </p:nvGrpSpPr>
        <p:grpSpPr>
          <a:xfrm rot="2566545">
            <a:off x="7281513" y="4495811"/>
            <a:ext cx="505317" cy="1114906"/>
            <a:chOff x="1243584" y="4632960"/>
            <a:chExt cx="768096" cy="1694688"/>
          </a:xfrm>
        </p:grpSpPr>
        <p:sp>
          <p:nvSpPr>
            <p:cNvPr id="308" name="Google Shape;308;p18"/>
            <p:cNvSpPr/>
            <p:nvPr/>
          </p:nvSpPr>
          <p:spPr>
            <a:xfrm>
              <a:off x="1243584" y="6089904"/>
              <a:ext cx="768096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 rot="-5400000">
              <a:off x="1045464" y="5361432"/>
              <a:ext cx="1694688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1276187" y="1039742"/>
            <a:ext cx="93550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Solution-3: using proper shades for street lights</a:t>
            </a:r>
            <a:endParaRPr/>
          </a:p>
        </p:txBody>
      </p:sp>
      <p:pic>
        <p:nvPicPr>
          <p:cNvPr id="316" name="Google Shape;316;p19" descr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992" y="1861393"/>
            <a:ext cx="9762363" cy="381037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 txBox="1"/>
          <p:nvPr/>
        </p:nvSpPr>
        <p:spPr>
          <a:xfrm>
            <a:off x="4950886" y="5671767"/>
            <a:ext cx="2526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Comparison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/>
        </p:nvSpPr>
        <p:spPr>
          <a:xfrm>
            <a:off x="1276187" y="1039742"/>
            <a:ext cx="93550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Solution-4: using proper light color</a:t>
            </a:r>
            <a:endParaRPr sz="3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24" name="Google Shape;324;p20"/>
          <p:cNvPicPr preferRelativeResize="0"/>
          <p:nvPr/>
        </p:nvPicPr>
        <p:blipFill rotWithShape="1">
          <a:blip r:embed="rId3">
            <a:alphaModFix/>
          </a:blip>
          <a:srcRect l="12393" b="18784"/>
          <a:stretch/>
        </p:blipFill>
        <p:spPr>
          <a:xfrm>
            <a:off x="2204224" y="2046581"/>
            <a:ext cx="2169994" cy="357629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5" name="Google Shape;325;p20"/>
          <p:cNvPicPr preferRelativeResize="0"/>
          <p:nvPr/>
        </p:nvPicPr>
        <p:blipFill rotWithShape="1">
          <a:blip r:embed="rId4">
            <a:alphaModFix/>
          </a:blip>
          <a:srcRect b="7169"/>
          <a:stretch/>
        </p:blipFill>
        <p:spPr>
          <a:xfrm>
            <a:off x="7817782" y="2046581"/>
            <a:ext cx="2170104" cy="35813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6" name="Google Shape;326;p20"/>
          <p:cNvPicPr preferRelativeResize="0"/>
          <p:nvPr/>
        </p:nvPicPr>
        <p:blipFill rotWithShape="1">
          <a:blip r:embed="rId5">
            <a:alphaModFix/>
          </a:blip>
          <a:srcRect l="7184" b="14054"/>
          <a:stretch/>
        </p:blipFill>
        <p:spPr>
          <a:xfrm>
            <a:off x="5011003" y="2050634"/>
            <a:ext cx="2169994" cy="357224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7" name="Google Shape;327;p20"/>
          <p:cNvSpPr txBox="1"/>
          <p:nvPr/>
        </p:nvSpPr>
        <p:spPr>
          <a:xfrm>
            <a:off x="8259069" y="5802830"/>
            <a:ext cx="12875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Blue LED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328" name="Google Shape;328;p20"/>
          <p:cNvGrpSpPr/>
          <p:nvPr/>
        </p:nvGrpSpPr>
        <p:grpSpPr>
          <a:xfrm rot="2566545">
            <a:off x="6062423" y="1502369"/>
            <a:ext cx="480942" cy="1061126"/>
            <a:chOff x="1243584" y="4632960"/>
            <a:chExt cx="768096" cy="1694688"/>
          </a:xfrm>
        </p:grpSpPr>
        <p:sp>
          <p:nvSpPr>
            <p:cNvPr id="329" name="Google Shape;329;p20"/>
            <p:cNvSpPr/>
            <p:nvPr/>
          </p:nvSpPr>
          <p:spPr>
            <a:xfrm>
              <a:off x="1243584" y="6089904"/>
              <a:ext cx="768096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 rot="-5400000">
              <a:off x="1045464" y="5361432"/>
              <a:ext cx="1694688" cy="237744"/>
            </a:xfrm>
            <a:prstGeom prst="rect">
              <a:avLst/>
            </a:prstGeom>
            <a:solidFill>
              <a:srgbClr val="30ED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0"/>
          <p:cNvSpPr txBox="1"/>
          <p:nvPr/>
        </p:nvSpPr>
        <p:spPr>
          <a:xfrm>
            <a:off x="4993778" y="5802830"/>
            <a:ext cx="22044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Yellow/Orange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LED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2607562" y="5802830"/>
            <a:ext cx="15071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White LED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1"/>
          <p:cNvPicPr preferRelativeResize="0"/>
          <p:nvPr/>
        </p:nvPicPr>
        <p:blipFill rotWithShape="1">
          <a:blip r:embed="rId3">
            <a:alphaModFix/>
          </a:blip>
          <a:srcRect l="26767" t="15344" r="3030" b="17461"/>
          <a:stretch/>
        </p:blipFill>
        <p:spPr>
          <a:xfrm>
            <a:off x="8641849" y="2167783"/>
            <a:ext cx="1989353" cy="339191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8" name="Google Shape;338;p21"/>
          <p:cNvPicPr preferRelativeResize="0"/>
          <p:nvPr/>
        </p:nvPicPr>
        <p:blipFill rotWithShape="1">
          <a:blip r:embed="rId4">
            <a:alphaModFix/>
          </a:blip>
          <a:srcRect l="20000" t="6022" b="23827"/>
          <a:stretch/>
        </p:blipFill>
        <p:spPr>
          <a:xfrm>
            <a:off x="6046326" y="2167783"/>
            <a:ext cx="2175407" cy="340050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9" name="Google Shape;339;p21"/>
          <p:cNvPicPr preferRelativeResize="0"/>
          <p:nvPr/>
        </p:nvPicPr>
        <p:blipFill rotWithShape="1">
          <a:blip r:embed="rId5">
            <a:alphaModFix/>
          </a:blip>
          <a:srcRect l="16216" t="8045" r="9188" b="19497"/>
          <a:stretch/>
        </p:blipFill>
        <p:spPr>
          <a:xfrm>
            <a:off x="1302334" y="2176370"/>
            <a:ext cx="1975041" cy="339191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0" name="Google Shape;340;p21"/>
          <p:cNvPicPr preferRelativeResize="0"/>
          <p:nvPr/>
        </p:nvPicPr>
        <p:blipFill rotWithShape="1">
          <a:blip r:embed="rId6">
            <a:alphaModFix/>
          </a:blip>
          <a:srcRect l="15340" r="4544" b="24320"/>
          <a:stretch/>
        </p:blipFill>
        <p:spPr>
          <a:xfrm>
            <a:off x="3699376" y="2176370"/>
            <a:ext cx="2017977" cy="339191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1" name="Google Shape;341;p21"/>
          <p:cNvSpPr txBox="1"/>
          <p:nvPr/>
        </p:nvSpPr>
        <p:spPr>
          <a:xfrm>
            <a:off x="1276187" y="1039742"/>
            <a:ext cx="935501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Solution-5: ensuring proper light anglement and height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295032" y="5808388"/>
            <a:ext cx="211468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Perpendicular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(90 degree)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945976" y="5802830"/>
            <a:ext cx="152477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45 degree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angled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317941" y="5802830"/>
            <a:ext cx="163217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6 inch long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8819116" y="5791714"/>
            <a:ext cx="163859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8 inch long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347" name="Google Shape;347;p21"/>
          <p:cNvGrpSpPr/>
          <p:nvPr/>
        </p:nvGrpSpPr>
        <p:grpSpPr>
          <a:xfrm rot="2566545">
            <a:off x="9641008" y="4595414"/>
            <a:ext cx="505317" cy="1114906"/>
            <a:chOff x="1243584" y="4632960"/>
            <a:chExt cx="768096" cy="1694688"/>
          </a:xfrm>
        </p:grpSpPr>
        <p:sp>
          <p:nvSpPr>
            <p:cNvPr id="348" name="Google Shape;348;p21"/>
            <p:cNvSpPr/>
            <p:nvPr/>
          </p:nvSpPr>
          <p:spPr>
            <a:xfrm>
              <a:off x="1243584" y="6089904"/>
              <a:ext cx="768096" cy="237744"/>
            </a:xfrm>
            <a:prstGeom prst="rect">
              <a:avLst/>
            </a:prstGeom>
            <a:solidFill>
              <a:srgbClr val="2BD30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 rot="-5400000">
              <a:off x="1045464" y="5361432"/>
              <a:ext cx="1694688" cy="237744"/>
            </a:xfrm>
            <a:prstGeom prst="rect">
              <a:avLst/>
            </a:prstGeom>
            <a:solidFill>
              <a:srgbClr val="2BD30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/>
          <p:nvPr/>
        </p:nvSpPr>
        <p:spPr>
          <a:xfrm>
            <a:off x="1276187" y="1039742"/>
            <a:ext cx="935501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Solution-5: ensuring proper light anglement and height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56" name="Google Shape;356;p22" descr="Points scored"/>
          <p:cNvPicPr preferRelativeResize="0"/>
          <p:nvPr/>
        </p:nvPicPr>
        <p:blipFill rotWithShape="1">
          <a:blip r:embed="rId3">
            <a:alphaModFix/>
          </a:blip>
          <a:srcRect b="14449"/>
          <a:stretch/>
        </p:blipFill>
        <p:spPr>
          <a:xfrm>
            <a:off x="1697608" y="2251336"/>
            <a:ext cx="8796783" cy="338199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2"/>
          <p:cNvSpPr txBox="1"/>
          <p:nvPr/>
        </p:nvSpPr>
        <p:spPr>
          <a:xfrm>
            <a:off x="4832672" y="5660629"/>
            <a:ext cx="2526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Comparison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1489" y="2835989"/>
            <a:ext cx="3942571" cy="2317389"/>
          </a:xfrm>
          <a:prstGeom prst="rect">
            <a:avLst/>
          </a:prstGeom>
          <a:noFill/>
          <a:ln w="165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3" name="Google Shape;36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6771" y="2835989"/>
            <a:ext cx="4222520" cy="2317389"/>
          </a:xfrm>
          <a:prstGeom prst="rect">
            <a:avLst/>
          </a:prstGeom>
          <a:noFill/>
          <a:ln w="165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4" name="Google Shape;364;p23"/>
          <p:cNvSpPr txBox="1"/>
          <p:nvPr/>
        </p:nvSpPr>
        <p:spPr>
          <a:xfrm>
            <a:off x="1237599" y="1311596"/>
            <a:ext cx="9716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Solution-6: controlling street lights by using AI and sensor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5284" y="2804205"/>
            <a:ext cx="1624013" cy="2626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6389" y="2807387"/>
            <a:ext cx="1624013" cy="2626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/>
          <p:nvPr/>
        </p:nvSpPr>
        <p:spPr>
          <a:xfrm>
            <a:off x="5033420" y="3393196"/>
            <a:ext cx="1513795" cy="2070960"/>
          </a:xfrm>
          <a:prstGeom prst="trapezoid">
            <a:avLst>
              <a:gd name="adj" fmla="val 37694"/>
            </a:avLst>
          </a:prstGeom>
          <a:gradFill>
            <a:gsLst>
              <a:gs pos="0">
                <a:srgbClr val="FEFE34"/>
              </a:gs>
              <a:gs pos="37000">
                <a:srgbClr val="B4B000"/>
              </a:gs>
              <a:gs pos="100000">
                <a:srgbClr val="0F0F0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4"/>
          <p:cNvPicPr preferRelativeResize="0"/>
          <p:nvPr/>
        </p:nvPicPr>
        <p:blipFill rotWithShape="1">
          <a:blip r:embed="rId4">
            <a:alphaModFix/>
          </a:blip>
          <a:srcRect l="8363" t="30583" r="8713" b="31789"/>
          <a:stretch/>
        </p:blipFill>
        <p:spPr>
          <a:xfrm flipH="1">
            <a:off x="-2015229" y="4434214"/>
            <a:ext cx="201522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1237599" y="1311596"/>
            <a:ext cx="9716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Solution-6: controlling street lights by using AI and sensor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3102315" y="3390014"/>
            <a:ext cx="1513795" cy="2070960"/>
          </a:xfrm>
          <a:prstGeom prst="trapezoid">
            <a:avLst>
              <a:gd name="adj" fmla="val 37694"/>
            </a:avLst>
          </a:prstGeom>
          <a:gradFill>
            <a:gsLst>
              <a:gs pos="0">
                <a:srgbClr val="FEFE34"/>
              </a:gs>
              <a:gs pos="37000">
                <a:srgbClr val="B4B000"/>
              </a:gs>
              <a:gs pos="100000">
                <a:srgbClr val="0F0F0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24"/>
          <p:cNvCxnSpPr/>
          <p:nvPr/>
        </p:nvCxnSpPr>
        <p:spPr>
          <a:xfrm>
            <a:off x="0" y="5348614"/>
            <a:ext cx="12192000" cy="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5284" y="2804205"/>
            <a:ext cx="1624013" cy="2626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6389" y="2807387"/>
            <a:ext cx="1624013" cy="262629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/>
          <p:nvPr/>
        </p:nvSpPr>
        <p:spPr>
          <a:xfrm>
            <a:off x="5033420" y="3393196"/>
            <a:ext cx="1513795" cy="2070960"/>
          </a:xfrm>
          <a:prstGeom prst="trapezoid">
            <a:avLst>
              <a:gd name="adj" fmla="val 37694"/>
            </a:avLst>
          </a:prstGeom>
          <a:gradFill>
            <a:gsLst>
              <a:gs pos="0">
                <a:srgbClr val="FEFE34"/>
              </a:gs>
              <a:gs pos="37000">
                <a:srgbClr val="B4B000"/>
              </a:gs>
              <a:gs pos="100000">
                <a:srgbClr val="0F0F0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1237599" y="1311596"/>
            <a:ext cx="9716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Solution-6: controlling street lights by using AI and sensor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3102315" y="3390014"/>
            <a:ext cx="1513795" cy="2070960"/>
          </a:xfrm>
          <a:prstGeom prst="trapezoid">
            <a:avLst>
              <a:gd name="adj" fmla="val 37694"/>
            </a:avLst>
          </a:prstGeom>
          <a:gradFill>
            <a:gsLst>
              <a:gs pos="0">
                <a:srgbClr val="FEFE34"/>
              </a:gs>
              <a:gs pos="37000">
                <a:srgbClr val="B4B000"/>
              </a:gs>
              <a:gs pos="100000">
                <a:srgbClr val="0F0F0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25"/>
          <p:cNvPicPr preferRelativeResize="0"/>
          <p:nvPr/>
        </p:nvPicPr>
        <p:blipFill rotWithShape="1">
          <a:blip r:embed="rId4">
            <a:alphaModFix/>
          </a:blip>
          <a:srcRect l="8363" t="30583" r="8713" b="31789"/>
          <a:stretch/>
        </p:blipFill>
        <p:spPr>
          <a:xfrm flipH="1">
            <a:off x="1051528" y="4456812"/>
            <a:ext cx="2015229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25"/>
          <p:cNvCxnSpPr/>
          <p:nvPr/>
        </p:nvCxnSpPr>
        <p:spPr>
          <a:xfrm>
            <a:off x="0" y="5348614"/>
            <a:ext cx="12192000" cy="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6389" y="2807387"/>
            <a:ext cx="1624013" cy="2626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6"/>
          <p:cNvPicPr preferRelativeResize="0"/>
          <p:nvPr/>
        </p:nvPicPr>
        <p:blipFill rotWithShape="1">
          <a:blip r:embed="rId4">
            <a:alphaModFix/>
          </a:blip>
          <a:srcRect l="8363" t="30583" r="8713" b="31789"/>
          <a:stretch/>
        </p:blipFill>
        <p:spPr>
          <a:xfrm flipH="1">
            <a:off x="7649276" y="4434214"/>
            <a:ext cx="201522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 txBox="1"/>
          <p:nvPr/>
        </p:nvSpPr>
        <p:spPr>
          <a:xfrm>
            <a:off x="1237599" y="1311596"/>
            <a:ext cx="97168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Solution-6: controlling street lights by using AI and sensor</a:t>
            </a:r>
            <a:endParaRPr/>
          </a:p>
        </p:txBody>
      </p:sp>
      <p:cxnSp>
        <p:nvCxnSpPr>
          <p:cNvPr id="397" name="Google Shape;397;p26"/>
          <p:cNvCxnSpPr/>
          <p:nvPr/>
        </p:nvCxnSpPr>
        <p:spPr>
          <a:xfrm>
            <a:off x="0" y="5348614"/>
            <a:ext cx="12192000" cy="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8" name="Google Shape;398;p26"/>
          <p:cNvSpPr txBox="1"/>
          <p:nvPr/>
        </p:nvSpPr>
        <p:spPr>
          <a:xfrm>
            <a:off x="3817171" y="218091"/>
            <a:ext cx="4557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99" name="Google Shape;39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5284" y="2804205"/>
            <a:ext cx="1624013" cy="2626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"/>
          <p:cNvSpPr txBox="1"/>
          <p:nvPr/>
        </p:nvSpPr>
        <p:spPr>
          <a:xfrm>
            <a:off x="4436732" y="804906"/>
            <a:ext cx="331853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Comparison (all in one)</a:t>
            </a:r>
            <a:endParaRPr sz="2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aphicFrame>
        <p:nvGraphicFramePr>
          <p:cNvPr id="405" name="Google Shape;405;p27"/>
          <p:cNvGraphicFramePr/>
          <p:nvPr/>
        </p:nvGraphicFramePr>
        <p:xfrm>
          <a:off x="1143001" y="1419862"/>
          <a:ext cx="9724275" cy="4974984"/>
        </p:xfrm>
        <a:graphic>
          <a:graphicData uri="http://schemas.openxmlformats.org/drawingml/2006/table">
            <a:tbl>
              <a:tblPr>
                <a:noFill/>
                <a:tableStyleId>{EC8EE665-0CFB-4EB7-A3C9-63D2D931023C}</a:tableStyleId>
              </a:tblPr>
              <a:tblGrid>
                <a:gridCol w="26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8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3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Lamppost model / LED position details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Distance from lux meter</a:t>
                      </a:r>
                      <a:endParaRPr/>
                    </a:p>
                    <a:p>
                      <a:pPr marL="5715" marR="127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(inch)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66040" lvl="0" indent="5080" algn="ctr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Angle to the ground (degree)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75565" lvl="0" indent="8889" algn="l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 Color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70485" lvl="0" indent="8889" algn="l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Lower Range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 </a:t>
                      </a:r>
                      <a:endParaRPr/>
                    </a:p>
                    <a:p>
                      <a:pPr marL="76200" marR="0" lvl="0" indent="0" algn="l" rtl="0"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Average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0" lvl="0" indent="-19050" algn="l" rtl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Higher Range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Perpendicular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602.2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632.4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632.4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 degree angled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6.5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567.8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579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 inch tall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233.6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261.7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267.3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 LED (6 inch tall)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283.7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448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455.6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7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Blue LED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Blue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570.6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638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865.5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7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Yellow/orange LED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Yellow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374.1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390.9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455.5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Without cover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208.4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329.1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334.7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One-sided cover (Flat)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258.9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354.4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357.2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Two-sided cover   (Triangular)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270.2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374.1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388.1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1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Entirely covered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635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368.4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385.3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C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Transparent glass</a:t>
                      </a:r>
                      <a:endParaRPr/>
                    </a:p>
                    <a:p>
                      <a:pPr marL="77470" marR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(less silver plating)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127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 inch behind</a:t>
                      </a:r>
                      <a:endParaRPr/>
                    </a:p>
                    <a:p>
                      <a:pPr marL="5715" marR="1270" lvl="0" indent="0" algn="ctr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window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90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89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122.3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202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Glass with enhanced</a:t>
                      </a:r>
                      <a:endParaRPr/>
                    </a:p>
                    <a:p>
                      <a:pPr marL="77470" marR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silver plating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1270" lvl="0" indent="0" algn="ctr" rtl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 inch behind</a:t>
                      </a:r>
                      <a:endParaRPr/>
                    </a:p>
                    <a:p>
                      <a:pPr marL="5715" marR="1270" lvl="0" indent="0" algn="ctr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window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90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White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65.2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73.7</a:t>
                      </a:r>
                      <a:endParaRPr sz="1400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0525" marR="50525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06" name="Google Shape;406;p27"/>
          <p:cNvSpPr txBox="1"/>
          <p:nvPr/>
        </p:nvSpPr>
        <p:spPr>
          <a:xfrm>
            <a:off x="3817171" y="198972"/>
            <a:ext cx="45576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Our suggested solution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"/>
          <p:cNvSpPr txBox="1"/>
          <p:nvPr/>
        </p:nvSpPr>
        <p:spPr>
          <a:xfrm>
            <a:off x="1129734" y="393121"/>
            <a:ext cx="101489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For real-life implementation, we require-</a:t>
            </a:r>
            <a:endParaRPr sz="36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412" name="Google Shape;412;p28"/>
          <p:cNvSpPr txBox="1"/>
          <p:nvPr/>
        </p:nvSpPr>
        <p:spPr>
          <a:xfrm>
            <a:off x="2957961" y="3057690"/>
            <a:ext cx="62760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Getting enough Fund/Manpower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3659273" y="5767964"/>
            <a:ext cx="48734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Implying by government</a:t>
            </a:r>
            <a:endParaRPr sz="28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414" name="Google Shape;414;p28"/>
          <p:cNvPicPr preferRelativeResize="0"/>
          <p:nvPr/>
        </p:nvPicPr>
        <p:blipFill rotWithShape="1">
          <a:blip r:embed="rId3">
            <a:alphaModFix/>
          </a:blip>
          <a:srcRect l="49656" t="58872" r="1840" b="14256"/>
          <a:stretch/>
        </p:blipFill>
        <p:spPr>
          <a:xfrm>
            <a:off x="4907278" y="1321142"/>
            <a:ext cx="2377440" cy="184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8"/>
          <p:cNvPicPr preferRelativeResize="0"/>
          <p:nvPr/>
        </p:nvPicPr>
        <p:blipFill rotWithShape="1">
          <a:blip r:embed="rId4">
            <a:alphaModFix/>
          </a:blip>
          <a:srcRect l="7333" t="10531" r="6922" b="20752"/>
          <a:stretch/>
        </p:blipFill>
        <p:spPr>
          <a:xfrm>
            <a:off x="4907278" y="3862600"/>
            <a:ext cx="2377440" cy="190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 txBox="1"/>
          <p:nvPr/>
        </p:nvSpPr>
        <p:spPr>
          <a:xfrm>
            <a:off x="3610499" y="-1184784"/>
            <a:ext cx="5275803" cy="1009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65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1" name="Google Shape;421;p29"/>
          <p:cNvSpPr txBox="1"/>
          <p:nvPr/>
        </p:nvSpPr>
        <p:spPr>
          <a:xfrm>
            <a:off x="3610499" y="-1184785"/>
            <a:ext cx="5275803" cy="1009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65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2" name="Google Shape;422;p29"/>
          <p:cNvSpPr txBox="1"/>
          <p:nvPr/>
        </p:nvSpPr>
        <p:spPr>
          <a:xfrm>
            <a:off x="3854040" y="2921169"/>
            <a:ext cx="44839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00"/>
                </a:solidFill>
                <a:latin typeface="Poppins Black"/>
                <a:ea typeface="Poppins Black"/>
                <a:cs typeface="Poppins Black"/>
                <a:sym typeface="Poppins Black"/>
              </a:rPr>
              <a:t>Open Floor</a:t>
            </a:r>
            <a:endParaRPr sz="6000">
              <a:solidFill>
                <a:srgbClr val="FFFF00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423" name="Google Shape;423;p29"/>
          <p:cNvSpPr/>
          <p:nvPr/>
        </p:nvSpPr>
        <p:spPr>
          <a:xfrm rot="-2801083">
            <a:off x="8245059" y="2811949"/>
            <a:ext cx="531272" cy="49425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 rot="-1099872">
            <a:off x="8367040" y="3114870"/>
            <a:ext cx="246123" cy="4571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9"/>
          <p:cNvSpPr/>
          <p:nvPr/>
        </p:nvSpPr>
        <p:spPr>
          <a:xfrm rot="-1117486">
            <a:off x="3336241" y="3707005"/>
            <a:ext cx="532150" cy="4571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/>
          <p:nvPr/>
        </p:nvSpPr>
        <p:spPr>
          <a:xfrm rot="6624248" flipH="1">
            <a:off x="3749884" y="3874886"/>
            <a:ext cx="268145" cy="4571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 rot="4998763">
            <a:off x="7996090" y="2816436"/>
            <a:ext cx="351632" cy="6531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589051" y="2959691"/>
            <a:ext cx="93233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Use artificial light, in an efficient way!</a:t>
            </a:r>
            <a:endParaRPr sz="36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/>
        </p:nvSpPr>
        <p:spPr>
          <a:xfrm>
            <a:off x="969615" y="2345610"/>
            <a:ext cx="439094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Presented by-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969615" y="3157254"/>
            <a:ext cx="41376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FalconX</a:t>
            </a:r>
            <a:endParaRPr sz="7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439" name="Google Shape;43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4026" y="195022"/>
            <a:ext cx="6137249" cy="6149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/>
          <p:nvPr/>
        </p:nvSpPr>
        <p:spPr>
          <a:xfrm>
            <a:off x="969615" y="789765"/>
            <a:ext cx="439094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Presented by-</a:t>
            </a:r>
            <a:endParaRPr/>
          </a:p>
        </p:txBody>
      </p:sp>
      <p:sp>
        <p:nvSpPr>
          <p:cNvPr id="445" name="Google Shape;445;p32"/>
          <p:cNvSpPr txBox="1"/>
          <p:nvPr/>
        </p:nvSpPr>
        <p:spPr>
          <a:xfrm>
            <a:off x="969615" y="1765182"/>
            <a:ext cx="4854411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MD </a:t>
            </a:r>
            <a:r>
              <a:rPr lang="en-US" sz="2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Reyad Hasan</a:t>
            </a:r>
            <a:endParaRPr lang="en-US" sz="28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Motaher</a:t>
            </a: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Hossain Siam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Mohammad Nehal Alam</a:t>
            </a:r>
            <a:endParaRPr sz="28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Rayat Ahmed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S.M. </a:t>
            </a:r>
            <a:r>
              <a:rPr lang="en-US" sz="2800" dirty="0" err="1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Safayat</a:t>
            </a: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Hossain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Mohammad Abdus Sami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Rahat Hossain Prince</a:t>
            </a:r>
            <a:endParaRPr dirty="0"/>
          </a:p>
        </p:txBody>
      </p:sp>
      <p:pic>
        <p:nvPicPr>
          <p:cNvPr id="446" name="Google Shape;44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4026" y="195022"/>
            <a:ext cx="6137249" cy="6149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930</Words>
  <Application>Microsoft Office PowerPoint</Application>
  <PresentationFormat>Widescreen</PresentationFormat>
  <Paragraphs>315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Poppins Black</vt:lpstr>
      <vt:lpstr>Calibri</vt:lpstr>
      <vt:lpstr>Noto Sans Symbols</vt:lpstr>
      <vt:lpstr>Poppins SemiBold</vt:lpstr>
      <vt:lpstr>Poppins</vt:lpstr>
      <vt:lpstr>Arial</vt:lpstr>
      <vt:lpstr>Courier New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21 Technology</dc:creator>
  <cp:lastModifiedBy>MD REYAD HASAN</cp:lastModifiedBy>
  <cp:revision>4</cp:revision>
  <dcterms:created xsi:type="dcterms:W3CDTF">2025-09-05T16:17:59Z</dcterms:created>
  <dcterms:modified xsi:type="dcterms:W3CDTF">2026-06-07T09:12:16Z</dcterms:modified>
</cp:coreProperties>
</file>